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3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664208"/>
            <a:ext cx="54864" cy="1481328"/>
          </a:xfrm>
          <a:prstGeom prst="rect">
            <a:avLst/>
          </a:prstGeom>
          <a:solidFill>
            <a:srgbClr val="C9A15E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157276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C9A15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NARRATIVE LANDING PAGE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68680" y="1901952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3EEE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為高價值產品打造</a:t>
            </a:r>
            <a:endParaRPr lang="en-US" sz="3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3EEE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敘事型 Landing Page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68680" y="336499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9285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服務說明與投資區間 · 轉介夥伴版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4370832"/>
            <a:ext cx="7863840" cy="0"/>
          </a:xfrm>
          <a:prstGeom prst="line">
            <a:avLst/>
          </a:prstGeom>
          <a:noFill/>
          <a:ln w="12700">
            <a:solidFill>
              <a:srgbClr val="3A33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44988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EEE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Harry Fan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760720" y="44988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9A1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harryfan.github.io/blog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613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75488"/>
            <a:ext cx="41148" cy="566928"/>
          </a:xfrm>
          <a:prstGeom prst="rect">
            <a:avLst/>
          </a:prstGeom>
          <a:solidFill>
            <a:srgbClr val="C9A15E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42062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9A15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58368" y="658368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3EEE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資訊是完整的，說服力是薄的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8412480" y="47365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92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58368" y="141732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BDB4A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多數產品頁面能交代功能、列出賣點，卻無法讓訪客在短時間內理解「這個產品為何重要」、這家公司是否足夠成熟可信。對高單價、長決策週期的產品，這個落差直接影響三件事：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58368" y="2514600"/>
            <a:ext cx="2487168" cy="1920240"/>
          </a:xfrm>
          <a:prstGeom prst="rect">
            <a:avLst/>
          </a:prstGeom>
          <a:solidFill>
            <a:srgbClr val="221D16"/>
          </a:solidFill>
          <a:ln w="9525">
            <a:solidFill>
              <a:srgbClr val="3A33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6968" y="274320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9A1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86968" y="32004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EEE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品牌感知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86968" y="3547872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DB4A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訪客用第一屏判斷你的級別——在讀完任何一個字之前。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74136" y="2514600"/>
            <a:ext cx="2487168" cy="1920240"/>
          </a:xfrm>
          <a:prstGeom prst="rect">
            <a:avLst/>
          </a:prstGeom>
          <a:solidFill>
            <a:srgbClr val="221D16"/>
          </a:solidFill>
          <a:ln w="9525">
            <a:solidFill>
              <a:srgbClr val="3A33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02736" y="274320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9A1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602736" y="32004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EEE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詢問品質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602736" y="3547872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DB4A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頁面說服力決定進來的是「隨便問問」還是準客戶。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89904" y="2514600"/>
            <a:ext cx="2487168" cy="1920240"/>
          </a:xfrm>
          <a:prstGeom prst="rect">
            <a:avLst/>
          </a:prstGeom>
          <a:solidFill>
            <a:srgbClr val="221D16"/>
          </a:solidFill>
          <a:ln w="9525">
            <a:solidFill>
              <a:srgbClr val="3A33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18504" y="274320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9A1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318504" y="32004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EEE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商務推進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318504" y="3547872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DB4A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成熟可信的門面，縮短之後每一次銷售對話的距離。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13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75488"/>
            <a:ext cx="41148" cy="566928"/>
          </a:xfrm>
          <a:prstGeom prst="rect">
            <a:avLst/>
          </a:prstGeom>
          <a:solidFill>
            <a:srgbClr val="C9A15E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42062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9A15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OUR APPROACH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58368" y="658368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3EEE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把頁面當成敘事系統，不是 section 的堆疊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8412480" y="47365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92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58368" y="1481328"/>
            <a:ext cx="3749040" cy="1325880"/>
          </a:xfrm>
          <a:prstGeom prst="rect">
            <a:avLst/>
          </a:prstGeom>
          <a:solidFill>
            <a:srgbClr val="221D16"/>
          </a:solidFill>
          <a:ln w="9525">
            <a:solidFill>
              <a:srgbClr val="3A33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1481328"/>
            <a:ext cx="41148" cy="1325880"/>
          </a:xfrm>
          <a:prstGeom prst="rect">
            <a:avLst/>
          </a:prstGeom>
          <a:solidFill>
            <a:srgbClr val="C9A15E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66420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3EEE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快速建立品牌存在感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914400" y="2029968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DB4A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第一屏就是發表會開場——訪客立刻知道這是什麼級別的產品。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36592" y="1481328"/>
            <a:ext cx="3749040" cy="1325880"/>
          </a:xfrm>
          <a:prstGeom prst="rect">
            <a:avLst/>
          </a:prstGeom>
          <a:solidFill>
            <a:srgbClr val="221D16"/>
          </a:solidFill>
          <a:ln w="9525">
            <a:solidFill>
              <a:srgbClr val="3A332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36592" y="1481328"/>
            <a:ext cx="41148" cy="1325880"/>
          </a:xfrm>
          <a:prstGeom prst="rect">
            <a:avLst/>
          </a:prstGeom>
          <a:solidFill>
            <a:srgbClr val="C9A15E"/>
          </a:solidFill>
          <a:ln/>
        </p:spPr>
      </p:sp>
      <p:sp>
        <p:nvSpPr>
          <p:cNvPr id="12" name="Text 10"/>
          <p:cNvSpPr/>
          <p:nvPr/>
        </p:nvSpPr>
        <p:spPr>
          <a:xfrm>
            <a:off x="4992624" y="166420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3EEE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可控節奏拆解價值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992624" y="2029968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DB4A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Scroll choreography 讓複雜產品照我們設計的順序被理解。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58368" y="3127248"/>
            <a:ext cx="3749040" cy="1325880"/>
          </a:xfrm>
          <a:prstGeom prst="rect">
            <a:avLst/>
          </a:prstGeom>
          <a:solidFill>
            <a:srgbClr val="221D16"/>
          </a:solidFill>
          <a:ln w="9525">
            <a:solidFill>
              <a:srgbClr val="3A332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8368" y="3127248"/>
            <a:ext cx="41148" cy="1325880"/>
          </a:xfrm>
          <a:prstGeom prst="rect">
            <a:avLst/>
          </a:prstGeom>
          <a:solidFill>
            <a:srgbClr val="C9A15E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331012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3EEE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有記憶點的互動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914400" y="3675888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DB4A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互動不是裝飾，是訊息設計的一部分——看過就記得。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36592" y="3127248"/>
            <a:ext cx="3749040" cy="1325880"/>
          </a:xfrm>
          <a:prstGeom prst="rect">
            <a:avLst/>
          </a:prstGeom>
          <a:solidFill>
            <a:srgbClr val="221D16"/>
          </a:solidFill>
          <a:ln w="9525">
            <a:solidFill>
              <a:srgbClr val="3A332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36592" y="3127248"/>
            <a:ext cx="41148" cy="1325880"/>
          </a:xfrm>
          <a:prstGeom prst="rect">
            <a:avLst/>
          </a:prstGeom>
          <a:solidFill>
            <a:srgbClr val="C9A15E"/>
          </a:solidFill>
          <a:ln/>
        </p:spPr>
      </p:sp>
      <p:sp>
        <p:nvSpPr>
          <p:cNvPr id="20" name="Text 18"/>
          <p:cNvSpPr/>
          <p:nvPr/>
        </p:nvSpPr>
        <p:spPr>
          <a:xfrm>
            <a:off x="4992624" y="331012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3EEE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導向商業下一步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4992624" y="3675888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DB4A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注意力最後收斂到明確的行動：詢問、預約、下單。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13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75488"/>
            <a:ext cx="41148" cy="566928"/>
          </a:xfrm>
          <a:prstGeom prst="rect">
            <a:avLst/>
          </a:prstGeom>
          <a:solidFill>
            <a:srgbClr val="C9A15E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42062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9A15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SELECTED WORK · 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58368" y="658368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3EEE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旗艦手機發表會 × 高級製錶品牌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8412480" y="47365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92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000" dirty="0"/>
          </a:p>
        </p:txBody>
      </p:sp>
      <p:pic>
        <p:nvPicPr>
          <p:cNvPr id="6" name="Image 0" descr="/private/tmp/claude-501/-Users-gangshuanfan-Documents-github-claude-mobile/683b6064-c8f4-4a69-86ec-30782b989115/scratchpad/shots/aura-x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8368" y="1481328"/>
            <a:ext cx="3749040" cy="234315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58368" y="1481328"/>
            <a:ext cx="3749040" cy="2343150"/>
          </a:xfrm>
          <a:prstGeom prst="rect">
            <a:avLst/>
          </a:prstGeom>
          <a:solidFill>
            <a:srgbClr val="16130F">
              <a:alpha val="0"/>
            </a:srgbClr>
          </a:solidFill>
          <a:ln w="9525">
            <a:solidFill>
              <a:srgbClr val="3A332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8368" y="395020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EEE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AURA X — 旗艦智慧手機（中文）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58368" y="422452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A1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nice-mobile-eta.vercel.app</a:t>
            </a:r>
            <a:endParaRPr lang="en-US" sz="1050" dirty="0"/>
          </a:p>
        </p:txBody>
      </p:sp>
      <p:pic>
        <p:nvPicPr>
          <p:cNvPr id="10" name="Image 1" descr="/private/tmp/claude-501/-Users-gangshuanfan-Documents-github-claude-mobile/683b6064-c8f4-4a69-86ec-30782b989115/scratchpad/shots/chronos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36592" y="1481328"/>
            <a:ext cx="3749040" cy="234315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736592" y="1481328"/>
            <a:ext cx="3749040" cy="2343150"/>
          </a:xfrm>
          <a:prstGeom prst="rect">
            <a:avLst/>
          </a:prstGeom>
          <a:solidFill>
            <a:srgbClr val="16130F">
              <a:alpha val="0"/>
            </a:srgbClr>
          </a:solidFill>
          <a:ln w="9525">
            <a:solidFill>
              <a:srgbClr val="3A332A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736592" y="395020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EEE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CHRONOS — Haute Horlogerie（英文）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4736592" y="422452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A1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nice-watch.vercel.app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13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75488"/>
            <a:ext cx="41148" cy="566928"/>
          </a:xfrm>
          <a:prstGeom prst="rect">
            <a:avLst/>
          </a:prstGeom>
          <a:solidFill>
            <a:srgbClr val="C9A15E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42062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9A15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SELECTED WORK · II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58368" y="658368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3EEE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法式香水 × 精品咖啡（四種產業，同一套方法）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8412480" y="47365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92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000" dirty="0"/>
          </a:p>
        </p:txBody>
      </p:sp>
      <p:pic>
        <p:nvPicPr>
          <p:cNvPr id="6" name="Image 0" descr="/private/tmp/claude-501/-Users-gangshuanfan-Documents-github-claude-mobile/683b6064-c8f4-4a69-86ec-30782b989115/scratchpad/shots/noir-ambre-cro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8368" y="1481328"/>
            <a:ext cx="3749040" cy="234315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58368" y="1481328"/>
            <a:ext cx="3749040" cy="2343150"/>
          </a:xfrm>
          <a:prstGeom prst="rect">
            <a:avLst/>
          </a:prstGeom>
          <a:solidFill>
            <a:srgbClr val="16130F">
              <a:alpha val="0"/>
            </a:srgbClr>
          </a:solidFill>
          <a:ln w="9525">
            <a:solidFill>
              <a:srgbClr val="3A332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8368" y="395020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EEE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NOIR AMBRE — Maison de Parfum（英文）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58368" y="422452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A1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luxry-perfume.vercel.app</a:t>
            </a:r>
            <a:endParaRPr lang="en-US" sz="1050" dirty="0"/>
          </a:p>
        </p:txBody>
      </p:sp>
      <p:pic>
        <p:nvPicPr>
          <p:cNvPr id="10" name="Image 1" descr="/private/tmp/claude-501/-Users-gangshuanfan-Documents-github-claude-mobile/683b6064-c8f4-4a69-86ec-30782b989115/scratchpad/shots/shiwu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36592" y="1481328"/>
            <a:ext cx="3749040" cy="234315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736592" y="1481328"/>
            <a:ext cx="3749040" cy="2343150"/>
          </a:xfrm>
          <a:prstGeom prst="rect">
            <a:avLst/>
          </a:prstGeom>
          <a:solidFill>
            <a:srgbClr val="16130F">
              <a:alpha val="0"/>
            </a:srgbClr>
          </a:solidFill>
          <a:ln w="9525">
            <a:solidFill>
              <a:srgbClr val="3A332A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736592" y="395020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EEE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拾霧珈琲 SHIWU — 精品咖啡豆（中文）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4736592" y="422452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A1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coffee-bean-bag.vercel.app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13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75488"/>
            <a:ext cx="41148" cy="566928"/>
          </a:xfrm>
          <a:prstGeom prst="rect">
            <a:avLst/>
          </a:prstGeom>
          <a:solidFill>
            <a:srgbClr val="C9A15E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42062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9A15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PRICING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58368" y="658368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3EEE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投資區間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8412480" y="47365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92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58368" y="1499616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EEE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敘事診斷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40280" y="1499616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1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NT$25,000–45,000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434840" y="1499616"/>
            <a:ext cx="40507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BDB4A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頁面敘事診斷＋Hero 概念稿。一週交付，之後可全額折抵正式專案。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58368" y="2084832"/>
            <a:ext cx="7827264" cy="0"/>
          </a:xfrm>
          <a:prstGeom prst="line">
            <a:avLst/>
          </a:prstGeom>
          <a:noFill/>
          <a:ln w="9525">
            <a:solidFill>
              <a:srgbClr val="3A33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221284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EEE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Starter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240280" y="221284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1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NT$150,000–190,000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434840" y="2212848"/>
            <a:ext cx="40507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BDB4A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方向明確、素材齊備的聚焦型單頁。含完整敘事架構與捲動節奏設計。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58368" y="2798064"/>
            <a:ext cx="7827264" cy="0"/>
          </a:xfrm>
          <a:prstGeom prst="line">
            <a:avLst/>
          </a:prstGeom>
          <a:noFill/>
          <a:ln w="9525">
            <a:solidFill>
              <a:srgbClr val="3A33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29260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EEE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Core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240280" y="292608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1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NT$200,000–320,000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434840" y="2926080"/>
            <a:ext cx="40507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BDB4A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完整 scroll-driven 敘事與正式前端實作。多數合作從這裡開始。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58368" y="3511296"/>
            <a:ext cx="7827264" cy="0"/>
          </a:xfrm>
          <a:prstGeom prst="line">
            <a:avLst/>
          </a:prstGeom>
          <a:noFill/>
          <a:ln w="9525">
            <a:solidFill>
              <a:srgbClr val="3A33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363931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EEE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Signature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240280" y="3639312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1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NT$350,000 起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434840" y="3639312"/>
            <a:ext cx="40507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BDB4A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launch 關鍵頁、高互動密度。上限依專案範圍另議，不設固定天花板。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58368" y="4370832"/>
            <a:ext cx="78272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i="1" dirty="0">
                <a:solidFill>
                  <a:srgbClr val="9C9285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估價維度：敘事複雜度、互動層級、素材條件、決策參與深度與時程——不是頁數。正式報價於 20 分鐘工作會談後提出。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13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75488"/>
            <a:ext cx="41148" cy="566928"/>
          </a:xfrm>
          <a:prstGeom prst="rect">
            <a:avLst/>
          </a:prstGeom>
          <a:solidFill>
            <a:srgbClr val="C9A15E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42062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9A15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3D ASSETS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58368" y="658368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3EEE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網站是一筆費用，3D 素材是另一筆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8412480" y="47365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92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58368" y="13716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DB4A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頁面中的 3D 產品模型是獨立的專業工項——兩者拆開報價、拆開決策，預算不混在一起。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8368" y="1965960"/>
            <a:ext cx="2487168" cy="2377440"/>
          </a:xfrm>
          <a:prstGeom prst="rect">
            <a:avLst/>
          </a:prstGeom>
          <a:solidFill>
            <a:srgbClr val="221D16"/>
          </a:solidFill>
          <a:ln w="9525">
            <a:solidFill>
              <a:srgbClr val="3A332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1965960"/>
            <a:ext cx="2487168" cy="45720"/>
          </a:xfrm>
          <a:prstGeom prst="rect">
            <a:avLst/>
          </a:prstGeom>
          <a:solidFill>
            <a:srgbClr val="C9A15E"/>
          </a:solidFill>
          <a:ln/>
        </p:spPr>
      </p:sp>
      <p:sp>
        <p:nvSpPr>
          <p:cNvPr id="9" name="Text 7"/>
          <p:cNvSpPr/>
          <p:nvPr/>
        </p:nvSpPr>
        <p:spPr>
          <a:xfrm>
            <a:off x="886968" y="2212848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3EEE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已有 3D 素材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86968" y="2633472"/>
            <a:ext cx="208483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BDB4A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產品 3D 檔、CAD、渲染資產直接整合進頁面。整合工時含在網站費用內，不另收模型費。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74136" y="1965960"/>
            <a:ext cx="2487168" cy="2377440"/>
          </a:xfrm>
          <a:prstGeom prst="rect">
            <a:avLst/>
          </a:prstGeom>
          <a:solidFill>
            <a:srgbClr val="221D16"/>
          </a:solidFill>
          <a:ln w="9525">
            <a:solidFill>
              <a:srgbClr val="3A332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74136" y="1965960"/>
            <a:ext cx="2487168" cy="45720"/>
          </a:xfrm>
          <a:prstGeom prst="rect">
            <a:avLst/>
          </a:prstGeom>
          <a:solidFill>
            <a:srgbClr val="C9A15E"/>
          </a:solidFill>
          <a:ln/>
        </p:spPr>
      </p:sp>
      <p:sp>
        <p:nvSpPr>
          <p:cNvPr id="13" name="Text 11"/>
          <p:cNvSpPr/>
          <p:nvPr/>
        </p:nvSpPr>
        <p:spPr>
          <a:xfrm>
            <a:off x="3602736" y="2212848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3EEE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需要從零建模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3602736" y="2633472"/>
            <a:ext cx="208483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BDB4A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依模型精度、材質表現與授權需求另行評估報價，會談時一併釐清，不悶著算。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89904" y="1965960"/>
            <a:ext cx="2487168" cy="2377440"/>
          </a:xfrm>
          <a:prstGeom prst="rect">
            <a:avLst/>
          </a:prstGeom>
          <a:solidFill>
            <a:srgbClr val="221D16"/>
          </a:solidFill>
          <a:ln w="9525">
            <a:solidFill>
              <a:srgbClr val="3A332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89904" y="1965960"/>
            <a:ext cx="2487168" cy="45720"/>
          </a:xfrm>
          <a:prstGeom prst="rect">
            <a:avLst/>
          </a:prstGeom>
          <a:solidFill>
            <a:srgbClr val="C9A15E"/>
          </a:solidFill>
          <a:ln/>
        </p:spPr>
      </p:sp>
      <p:sp>
        <p:nvSpPr>
          <p:cNvPr id="17" name="Text 15"/>
          <p:cNvSpPr/>
          <p:nvPr/>
        </p:nvSpPr>
        <p:spPr>
          <a:xfrm>
            <a:off x="6318504" y="2212848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3EEE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不用 3D 也成立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318504" y="2633472"/>
            <a:ext cx="208483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BDB4A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以 2D 視覺與動效完成的敘事頁（Starter 區間）同樣具備完整策略與節奏設計。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13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75488"/>
            <a:ext cx="41148" cy="566928"/>
          </a:xfrm>
          <a:prstGeom prst="rect">
            <a:avLst/>
          </a:prstGeom>
          <a:solidFill>
            <a:srgbClr val="C9A15E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42062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9A15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TECHNOLOGY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58368" y="658368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3EEE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手工實作，進得了你現有的架構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8412480" y="47365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92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58368" y="141732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C9A1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463040" y="14813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EEE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純手工前端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977640" y="1463040"/>
            <a:ext cx="4526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BDB4A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原生 CSS/JS 與 Three.js，不依賴模板工具——效果與效能完全可控，品質沒有天花板。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58368" y="2322576"/>
            <a:ext cx="7827264" cy="0"/>
          </a:xfrm>
          <a:prstGeom prst="line">
            <a:avLst/>
          </a:prstGeom>
          <a:noFill/>
          <a:ln w="9525">
            <a:solidFill>
              <a:srgbClr val="3A33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246888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C9A1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463040" y="25328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EEE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可整合 WordPress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977640" y="2514600"/>
            <a:ext cx="4526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BDB4A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交付 WP 可整合版本，互動效果不打折——既有網站可直接沿用。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58368" y="3374136"/>
            <a:ext cx="7827264" cy="0"/>
          </a:xfrm>
          <a:prstGeom prst="line">
            <a:avLst/>
          </a:prstGeom>
          <a:noFill/>
          <a:ln w="9525">
            <a:solidFill>
              <a:srgbClr val="3A33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352044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C9A1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463040" y="358444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EEE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效能與降級策略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977640" y="3566160"/>
            <a:ext cx="4526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BDB4A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行動裝置優先保清晰與速度，互動密度依裝置能力分級——舊裝置優雅退場，不是事後補救。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13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75488"/>
            <a:ext cx="41148" cy="566928"/>
          </a:xfrm>
          <a:prstGeom prst="rect">
            <a:avLst/>
          </a:prstGeom>
          <a:solidFill>
            <a:srgbClr val="C9A15E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42062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9A15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FOUNDING CLIENTS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58368" y="658368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3EEE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2026 創始客戶方案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8412480" y="47365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92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58368" y="1417320"/>
            <a:ext cx="3931920" cy="3017520"/>
          </a:xfrm>
          <a:prstGeom prst="rect">
            <a:avLst/>
          </a:prstGeom>
          <a:solidFill>
            <a:srgbClr val="221D16"/>
          </a:solidFill>
          <a:ln w="9525">
            <a:solidFill>
              <a:srgbClr val="3A33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16642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9285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Core 範圍 · 限 3 名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32688" y="2029968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C9A1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NT$168,000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932688" y="2907792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F3EEE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專案定價 NT$240,000</a:t>
            </a: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F3EEE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創始客戶抵減 NT$72,000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32688" y="395020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C9285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有效期至 2026-10-31，名額用罄即恢復標準定價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29200" y="16916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EEE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對價條件——用行銷資產支付，不是折扣價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0" y="2276856"/>
            <a:ext cx="128016" cy="41148"/>
          </a:xfrm>
          <a:prstGeom prst="rect">
            <a:avLst/>
          </a:prstGeom>
          <a:solidFill>
            <a:srgbClr val="C9A15E"/>
          </a:solidFill>
          <a:ln/>
        </p:spPr>
      </p:sp>
      <p:sp>
        <p:nvSpPr>
          <p:cNvPr id="13" name="Text 11"/>
          <p:cNvSpPr/>
          <p:nvPr/>
        </p:nvSpPr>
        <p:spPr>
          <a:xfrm>
            <a:off x="5285232" y="2121408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B4A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完整 case study 撰寫與發布授權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0" y="2843784"/>
            <a:ext cx="128016" cy="41148"/>
          </a:xfrm>
          <a:prstGeom prst="rect">
            <a:avLst/>
          </a:prstGeom>
          <a:solidFill>
            <a:srgbClr val="C9A15E"/>
          </a:solidFill>
          <a:ln/>
        </p:spPr>
      </p:sp>
      <p:sp>
        <p:nvSpPr>
          <p:cNvPr id="15" name="Text 13"/>
          <p:cNvSpPr/>
          <p:nvPr/>
        </p:nvSpPr>
        <p:spPr>
          <a:xfrm>
            <a:off x="5285232" y="2688336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B4A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Logo 與推薦語使用權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0" y="3410712"/>
            <a:ext cx="128016" cy="41148"/>
          </a:xfrm>
          <a:prstGeom prst="rect">
            <a:avLst/>
          </a:prstGeom>
          <a:solidFill>
            <a:srgbClr val="C9A15E"/>
          </a:solidFill>
          <a:ln/>
        </p:spPr>
      </p:sp>
      <p:sp>
        <p:nvSpPr>
          <p:cNvPr id="17" name="Text 15"/>
          <p:cNvSpPr/>
          <p:nvPr/>
        </p:nvSpPr>
        <p:spPr>
          <a:xfrm>
            <a:off x="5285232" y="3255264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B4A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上線後 30 天成效數據分享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0" y="395020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i="1" dirty="0">
                <a:solidFill>
                  <a:srgbClr val="9C9285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早期客戶替我們承擔了信任成本，理應拿到對價。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13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75488"/>
            <a:ext cx="41148" cy="566928"/>
          </a:xfrm>
          <a:prstGeom prst="rect">
            <a:avLst/>
          </a:prstGeom>
          <a:solidFill>
            <a:srgbClr val="C9A15E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42062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9A15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NEXT STEP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58368" y="658368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3EEE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20 分鐘工作會談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8412480" y="47365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92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58368" y="138988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BDB4A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不是銷售電話——會談本身就是合作的第一次體驗，我們會直接針對你現有的頁面給出具體判斷。聚焦三件事：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8368" y="2084832"/>
            <a:ext cx="7827264" cy="475488"/>
          </a:xfrm>
          <a:prstGeom prst="rect">
            <a:avLst/>
          </a:prstGeom>
          <a:solidFill>
            <a:srgbClr val="221D16"/>
          </a:solidFill>
          <a:ln w="9525">
            <a:solidFill>
              <a:srgbClr val="3A33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157984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9A1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08760" y="2167128"/>
            <a:ext cx="6766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3EEE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這個頁面真正需要傳達什麼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8368" y="2834640"/>
            <a:ext cx="7827264" cy="475488"/>
          </a:xfrm>
          <a:prstGeom prst="rect">
            <a:avLst/>
          </a:prstGeom>
          <a:solidFill>
            <a:srgbClr val="221D16"/>
          </a:solidFill>
          <a:ln w="9525">
            <a:solidFill>
              <a:srgbClr val="3A33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907792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9A1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508760" y="2916936"/>
            <a:ext cx="6766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3EEE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現有網站在哪裡低估了產品價值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8368" y="3584448"/>
            <a:ext cx="7827264" cy="475488"/>
          </a:xfrm>
          <a:prstGeom prst="rect">
            <a:avLst/>
          </a:prstGeom>
          <a:solidFill>
            <a:srgbClr val="221D16"/>
          </a:solidFill>
          <a:ln w="9525">
            <a:solidFill>
              <a:srgbClr val="3A33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657600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9A1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508760" y="3666744"/>
            <a:ext cx="6766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3EEE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什麼程度的互動在策略上是合理的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58368" y="440740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3EEE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會談後 24 小時內，給出明確下一步與時間承諾。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120640" y="440740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C9A1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Harry Fan · harryfan.github.io/blog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敘事型 Landing Page — 服務說明與投資區間</dc:title>
  <dc:subject>PptxGenJS Presentation</dc:subject>
  <dc:creator>Harry Fan</dc:creator>
  <cp:lastModifiedBy>Harry Fan</cp:lastModifiedBy>
  <cp:revision>1</cp:revision>
  <dcterms:created xsi:type="dcterms:W3CDTF">2026-07-08T01:16:34Z</dcterms:created>
  <dcterms:modified xsi:type="dcterms:W3CDTF">2026-07-08T01:16:34Z</dcterms:modified>
</cp:coreProperties>
</file>